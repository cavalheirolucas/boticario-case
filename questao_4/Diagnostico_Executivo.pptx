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96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F6B54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B8703E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en-US" sz="4000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4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Executivo</a:t>
            </a:r>
            <a:r>
              <a:rPr lang="en-US" sz="4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4000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Vendas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de performance comercial 2024–2026 (jun) frente às </a:t>
            </a:r>
            <a:r>
              <a:rPr lang="en-US" sz="1300" dirty="0" err="1">
                <a:solidFill>
                  <a:srgbClr val="C9D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metas</a:t>
            </a:r>
            <a:r>
              <a:rPr lang="en-US" sz="1300" dirty="0">
                <a:solidFill>
                  <a:srgbClr val="C9D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dirty="0" err="1">
                <a:solidFill>
                  <a:srgbClr val="C9D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orçamentárias</a:t>
            </a:r>
            <a:r>
              <a:rPr lang="en-US" sz="1300" dirty="0">
                <a:solidFill>
                  <a:srgbClr val="C9D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perguntas guiam este diagnóstico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estamos?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Resultado real da companhia frente ao planejado, mês a mês e estado a estado.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66344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344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estão as oportunidades?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7947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Gargalos de receita, logística, </a:t>
            </a:r>
            <a:r>
              <a:rPr lang="en-US" sz="1250" dirty="0" err="1">
                <a:solidFill>
                  <a:srgbClr val="6B7280"/>
                </a:solidFill>
              </a:rPr>
              <a:t>categorias</a:t>
            </a:r>
            <a:r>
              <a:rPr lang="en-US" sz="1250" dirty="0">
                <a:solidFill>
                  <a:srgbClr val="6B7280"/>
                </a:solidFill>
              </a:rPr>
              <a:t> e retenção identificados nos dados.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45820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5820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onde vamos?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Projeção de curto prazo e ações recomendadas para acelerar o resultado.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ESTAMOS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Atingimento</a:t>
            </a:r>
            <a:r>
              <a:rPr lang="en-US" sz="26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85,7% da meta acumulada no período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Jan/2024 a Jun/2026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R$ 1.328K</a:t>
            </a:r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Receita realizada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52044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R$ 1.550K</a:t>
            </a:r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52044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Meta orçada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85,7%</a:t>
            </a:r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Atingimento geral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8972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93,2%</a:t>
            </a:r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8972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Melhor </a:t>
            </a:r>
            <a:r>
              <a:rPr lang="en-US" sz="1200" dirty="0" err="1">
                <a:solidFill>
                  <a:srgbClr val="6B7280"/>
                </a:solidFill>
              </a:rPr>
              <a:t>mês</a:t>
            </a:r>
            <a:r>
              <a:rPr lang="en-US" sz="1200" dirty="0">
                <a:solidFill>
                  <a:srgbClr val="6B7280"/>
                </a:solidFill>
              </a:rPr>
              <a:t> (Dez/25)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4D3B"/>
                </a:solidFill>
              </a:rPr>
              <a:t>Leitura: </a:t>
            </a:r>
            <a:r>
              <a:rPr lang="en-US" sz="1350" dirty="0">
                <a:solidFill>
                  <a:srgbClr val="6B7280"/>
                </a:solidFill>
              </a:rPr>
              <a:t>a lacuna entre real e meta vem fechando ao longo do tempo de ~75% de atingimento médio em 2024 para acima de 90% em vários meses de 2025/26.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ESTAMOS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vs. Meta mês a mês —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sazonalidade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clara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gap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persistente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relação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meta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19327E4-E368-1F53-BBB8-EB0E86E4E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07758"/>
            <a:ext cx="11643360" cy="3898849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C307613F-DCE7-10BC-7510-F2F7D8C8D15F}"/>
              </a:ext>
            </a:extLst>
          </p:cNvPr>
          <p:cNvSpPr/>
          <p:nvPr/>
        </p:nvSpPr>
        <p:spPr>
          <a:xfrm>
            <a:off x="9307902" y="5037826"/>
            <a:ext cx="2670738" cy="568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</a:rPr>
              <a:t>Estados</a:t>
            </a:r>
            <a:r>
              <a:rPr lang="en-US" sz="2600" b="1" dirty="0">
                <a:solidFill>
                  <a:srgbClr val="1E4D3B"/>
                </a:solidFill>
                <a:latin typeface="Georgia" pitchFamily="34" charset="0"/>
              </a:rPr>
              <a:t> com </a:t>
            </a: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</a:rPr>
              <a:t>maiores</a:t>
            </a:r>
            <a:r>
              <a:rPr lang="en-US" sz="2600" b="1" dirty="0">
                <a:solidFill>
                  <a:srgbClr val="1E4D3B"/>
                </a:solidFill>
                <a:latin typeface="Georgia" pitchFamily="34" charset="0"/>
              </a:rPr>
              <a:t> </a:t>
            </a: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</a:rPr>
              <a:t>receitas</a:t>
            </a:r>
            <a:r>
              <a:rPr lang="en-US" sz="2600" b="1" dirty="0">
                <a:solidFill>
                  <a:srgbClr val="1E4D3B"/>
                </a:solidFill>
                <a:latin typeface="Georgia" pitchFamily="34" charset="0"/>
              </a:rPr>
              <a:t> com </a:t>
            </a: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</a:rPr>
              <a:t>oportunidade</a:t>
            </a:r>
            <a:r>
              <a:rPr lang="en-US" sz="2600" b="1" dirty="0">
                <a:solidFill>
                  <a:srgbClr val="1E4D3B"/>
                </a:solidFill>
                <a:latin typeface="Georgia" pitchFamily="34" charset="0"/>
              </a:rPr>
              <a:t> de </a:t>
            </a: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</a:rPr>
              <a:t>melhoria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Entre </a:t>
            </a:r>
            <a:r>
              <a:rPr lang="en-US" sz="1150" dirty="0" err="1">
                <a:solidFill>
                  <a:srgbClr val="6B7280"/>
                </a:solidFill>
              </a:rPr>
              <a:t>os</a:t>
            </a:r>
            <a:r>
              <a:rPr lang="en-US" sz="1150" dirty="0">
                <a:solidFill>
                  <a:srgbClr val="6B7280"/>
                </a:solidFill>
              </a:rPr>
              <a:t> top 10 </a:t>
            </a:r>
            <a:r>
              <a:rPr lang="en-US" sz="1150" dirty="0" err="1">
                <a:solidFill>
                  <a:srgbClr val="6B7280"/>
                </a:solidFill>
              </a:rPr>
              <a:t>estados</a:t>
            </a:r>
            <a:r>
              <a:rPr lang="en-US" sz="1150" dirty="0">
                <a:solidFill>
                  <a:srgbClr val="6B7280"/>
                </a:solidFill>
              </a:rPr>
              <a:t>, SC e PR </a:t>
            </a:r>
            <a:r>
              <a:rPr lang="en-US" sz="1150" dirty="0" err="1">
                <a:solidFill>
                  <a:srgbClr val="6B7280"/>
                </a:solidFill>
              </a:rPr>
              <a:t>chamam</a:t>
            </a:r>
            <a:r>
              <a:rPr lang="en-US" sz="1150" dirty="0">
                <a:solidFill>
                  <a:srgbClr val="6B7280"/>
                </a:solidFill>
              </a:rPr>
              <a:t> </a:t>
            </a:r>
            <a:r>
              <a:rPr lang="en-US" sz="1150" dirty="0" err="1">
                <a:solidFill>
                  <a:srgbClr val="6B7280"/>
                </a:solidFill>
              </a:rPr>
              <a:t>atenção</a:t>
            </a:r>
            <a:r>
              <a:rPr lang="en-US" sz="1150" dirty="0">
                <a:solidFill>
                  <a:srgbClr val="6B7280"/>
                </a:solidFill>
              </a:rPr>
              <a:t> com </a:t>
            </a:r>
            <a:r>
              <a:rPr lang="en-US" sz="1150" dirty="0" err="1">
                <a:solidFill>
                  <a:srgbClr val="6B7280"/>
                </a:solidFill>
              </a:rPr>
              <a:t>menos</a:t>
            </a:r>
            <a:r>
              <a:rPr lang="en-US" sz="1150" dirty="0">
                <a:solidFill>
                  <a:srgbClr val="6B7280"/>
                </a:solidFill>
              </a:rPr>
              <a:t> de 80% de meta (</a:t>
            </a:r>
            <a:r>
              <a:rPr lang="en-US" sz="1150" dirty="0" err="1">
                <a:solidFill>
                  <a:srgbClr val="6B7280"/>
                </a:solidFill>
              </a:rPr>
              <a:t>jul</a:t>
            </a:r>
            <a:r>
              <a:rPr lang="en-US" sz="1150" dirty="0">
                <a:solidFill>
                  <a:srgbClr val="6B7280"/>
                </a:solidFill>
              </a:rPr>
              <a:t>/25-jun/26) </a:t>
            </a:r>
            <a:r>
              <a:rPr lang="en-US" sz="1150" dirty="0" err="1">
                <a:solidFill>
                  <a:srgbClr val="6B7280"/>
                </a:solidFill>
              </a:rPr>
              <a:t>acumulada</a:t>
            </a:r>
            <a:r>
              <a:rPr lang="en-US" sz="1150" dirty="0">
                <a:solidFill>
                  <a:srgbClr val="6B7280"/>
                </a:solidFill>
              </a:rPr>
              <a:t> </a:t>
            </a:r>
            <a:r>
              <a:rPr lang="en-US" sz="1150" dirty="0" err="1">
                <a:solidFill>
                  <a:srgbClr val="6B7280"/>
                </a:solidFill>
              </a:rPr>
              <a:t>atingida</a:t>
            </a:r>
            <a:r>
              <a:rPr lang="en-US" sz="1150" dirty="0">
                <a:solidFill>
                  <a:srgbClr val="6B7280"/>
                </a:solidFill>
              </a:rPr>
              <a:t>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5F6E9A6A-F26D-86A1-9E2A-715ABED81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1892808"/>
            <a:ext cx="11521440" cy="3858023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6FC693F1-7B76-6570-3056-7450A8EC27C0}"/>
              </a:ext>
            </a:extLst>
          </p:cNvPr>
          <p:cNvSpPr/>
          <p:nvPr/>
        </p:nvSpPr>
        <p:spPr>
          <a:xfrm>
            <a:off x="8972622" y="5034990"/>
            <a:ext cx="2670738" cy="568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4D3B"/>
                </a:solidFill>
                <a:latin typeface="Georgia" pitchFamily="34" charset="0"/>
              </a:rPr>
              <a:t>SC e PR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</a:rPr>
              <a:t>são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</a:rPr>
              <a:t> o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</a:rPr>
              <a:t>problema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</a:rPr>
              <a:t>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</a:rPr>
              <a:t>atual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</a:rPr>
              <a:t> entre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</a:rPr>
              <a:t>os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</a:rPr>
              <a:t>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</a:rPr>
              <a:t>estados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</a:rPr>
              <a:t> com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</a:rPr>
              <a:t>maior</a:t>
            </a:r>
            <a:r>
              <a:rPr lang="en-US" sz="2400" b="1" dirty="0">
                <a:solidFill>
                  <a:srgbClr val="1E4D3B"/>
                </a:solidFill>
                <a:latin typeface="Georgia" pitchFamily="34" charset="0"/>
              </a:rPr>
              <a:t> </a:t>
            </a:r>
            <a:r>
              <a:rPr lang="en-US" sz="2400" b="1" dirty="0" err="1">
                <a:solidFill>
                  <a:srgbClr val="1E4D3B"/>
                </a:solidFill>
                <a:latin typeface="Georgia" pitchFamily="34" charset="0"/>
              </a:rPr>
              <a:t>receita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 é o maior gap em valor </a:t>
            </a:r>
            <a:r>
              <a:rPr lang="en-US" sz="1900" b="1" dirty="0" err="1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absoluto</a:t>
            </a:r>
            <a:r>
              <a:rPr lang="en-US" sz="135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35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sendo</a:t>
            </a:r>
            <a:r>
              <a:rPr lang="en-US" sz="13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longe o maior mercado da base, mesmo com 87,1% de </a:t>
            </a:r>
            <a:r>
              <a:rPr lang="en-US" sz="135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atingimento</a:t>
            </a:r>
            <a:r>
              <a:rPr lang="en-US" sz="13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 volume faz o gap em R$ pesar mais que o de qualquer outro estado.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R$ 69K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gap de receita </a:t>
            </a:r>
            <a:r>
              <a:rPr lang="en-US" sz="1200" dirty="0" err="1">
                <a:solidFill>
                  <a:srgbClr val="6B7280"/>
                </a:solidFill>
              </a:rPr>
              <a:t>em</a:t>
            </a:r>
            <a:r>
              <a:rPr lang="en-US" sz="1200" dirty="0">
                <a:solidFill>
                  <a:srgbClr val="6B7280"/>
                </a:solidFill>
              </a:rPr>
              <a:t> SP no </a:t>
            </a:r>
            <a:r>
              <a:rPr lang="en-US" sz="1200" dirty="0" err="1">
                <a:solidFill>
                  <a:srgbClr val="6B7280"/>
                </a:solidFill>
              </a:rPr>
              <a:t>período</a:t>
            </a:r>
            <a:r>
              <a:rPr lang="en-US" sz="1200" dirty="0">
                <a:solidFill>
                  <a:srgbClr val="6B7280"/>
                </a:solidFill>
              </a:rPr>
              <a:t> (</a:t>
            </a:r>
            <a:r>
              <a:rPr lang="en-US" sz="1200" dirty="0" err="1">
                <a:solidFill>
                  <a:srgbClr val="6B7280"/>
                </a:solidFill>
              </a:rPr>
              <a:t>jan</a:t>
            </a:r>
            <a:r>
              <a:rPr lang="en-US" sz="1200" dirty="0">
                <a:solidFill>
                  <a:srgbClr val="6B7280"/>
                </a:solidFill>
              </a:rPr>
              <a:t>/24-jun/26),  o maior em valor </a:t>
            </a:r>
            <a:r>
              <a:rPr lang="en-US" sz="1200" dirty="0" err="1">
                <a:solidFill>
                  <a:srgbClr val="6B7280"/>
                </a:solidFill>
              </a:rPr>
              <a:t>absoluto</a:t>
            </a:r>
            <a:r>
              <a:rPr lang="en-US" sz="1200" dirty="0">
                <a:solidFill>
                  <a:srgbClr val="6B7280"/>
                </a:solidFill>
              </a:rPr>
              <a:t>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27432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29768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 · 65,9%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3749040"/>
            <a:ext cx="2926080" cy="1281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dirty="0">
                <a:solidFill>
                  <a:srgbClr val="6B7280"/>
                </a:solidFill>
              </a:rPr>
              <a:t>Estagnado nos 3 anos (65,2% → 65,8% → 68,0%)</a:t>
            </a:r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61548740-2267-323E-A430-CE0E77013E31}"/>
              </a:ext>
            </a:extLst>
          </p:cNvPr>
          <p:cNvSpPr/>
          <p:nvPr/>
        </p:nvSpPr>
        <p:spPr>
          <a:xfrm>
            <a:off x="7841124" y="2743200"/>
            <a:ext cx="3383280" cy="2926080"/>
          </a:xfrm>
          <a:prstGeom prst="roundRect">
            <a:avLst>
              <a:gd name="adj" fmla="val 2500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1DB1BC15-82EA-4043-0C4E-43DCA1070AC9}"/>
              </a:ext>
            </a:extLst>
          </p:cNvPr>
          <p:cNvSpPr/>
          <p:nvPr/>
        </p:nvSpPr>
        <p:spPr>
          <a:xfrm>
            <a:off x="7978284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R$ 18K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5596700F-9682-DCB5-96BA-71514B02840C}"/>
              </a:ext>
            </a:extLst>
          </p:cNvPr>
          <p:cNvSpPr/>
          <p:nvPr/>
        </p:nvSpPr>
        <p:spPr>
          <a:xfrm>
            <a:off x="7978284" y="35661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</a:rPr>
              <a:t>Oportunidade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acumulado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em</a:t>
            </a:r>
            <a:r>
              <a:rPr lang="en-US" sz="1200" dirty="0">
                <a:solidFill>
                  <a:schemeClr val="bg1"/>
                </a:solidFill>
              </a:rPr>
              <a:t> SC no </a:t>
            </a:r>
            <a:r>
              <a:rPr lang="en-US" sz="1200" dirty="0" err="1">
                <a:solidFill>
                  <a:schemeClr val="bg1"/>
                </a:solidFill>
              </a:rPr>
              <a:t>período</a:t>
            </a:r>
            <a:r>
              <a:rPr lang="en-US" sz="1200" dirty="0">
                <a:solidFill>
                  <a:schemeClr val="bg1"/>
                </a:solidFill>
              </a:rPr>
              <a:t> (</a:t>
            </a:r>
            <a:r>
              <a:rPr lang="en-US" sz="1200" dirty="0" err="1">
                <a:solidFill>
                  <a:schemeClr val="bg1"/>
                </a:solidFill>
              </a:rPr>
              <a:t>jan</a:t>
            </a:r>
            <a:r>
              <a:rPr lang="en-US" sz="1200" dirty="0">
                <a:solidFill>
                  <a:schemeClr val="bg1"/>
                </a:solidFill>
              </a:rPr>
              <a:t>/24 – </a:t>
            </a:r>
            <a:r>
              <a:rPr lang="en-US" sz="1200" dirty="0" err="1">
                <a:solidFill>
                  <a:schemeClr val="bg1"/>
                </a:solidFill>
              </a:rPr>
              <a:t>jun</a:t>
            </a:r>
            <a:r>
              <a:rPr lang="en-US" sz="1200" dirty="0">
                <a:solidFill>
                  <a:schemeClr val="bg1"/>
                </a:solidFill>
              </a:rPr>
              <a:t>/26) se o </a:t>
            </a:r>
            <a:r>
              <a:rPr lang="en-US" sz="1200" dirty="0" err="1">
                <a:solidFill>
                  <a:schemeClr val="bg1"/>
                </a:solidFill>
              </a:rPr>
              <a:t>estado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tivesse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atingido</a:t>
            </a:r>
            <a:r>
              <a:rPr lang="en-US" sz="1200" dirty="0">
                <a:solidFill>
                  <a:schemeClr val="bg1"/>
                </a:solidFill>
              </a:rPr>
              <a:t> a media </a:t>
            </a:r>
            <a:r>
              <a:rPr lang="en-US" sz="1200" dirty="0" err="1">
                <a:solidFill>
                  <a:schemeClr val="bg1"/>
                </a:solidFill>
              </a:rPr>
              <a:t>nacional</a:t>
            </a:r>
            <a:r>
              <a:rPr lang="en-US" sz="1200" dirty="0">
                <a:solidFill>
                  <a:schemeClr val="bg1"/>
                </a:solidFill>
              </a:rPr>
              <a:t> (85,7%)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Perfumaria domina a receita, mas não é onde a margem é maior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A8F3D2D-89BD-9B7A-C4C7-F43083A3D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8" y="1810412"/>
            <a:ext cx="11643360" cy="3898849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512D89FC-59B3-6F15-E293-53FB3BE82D04}"/>
              </a:ext>
            </a:extLst>
          </p:cNvPr>
          <p:cNvSpPr/>
          <p:nvPr/>
        </p:nvSpPr>
        <p:spPr>
          <a:xfrm>
            <a:off x="9307902" y="5156289"/>
            <a:ext cx="2670738" cy="568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106E94E5-619E-DD9E-2FAB-897169841698}"/>
              </a:ext>
            </a:extLst>
          </p:cNvPr>
          <p:cNvSpPr/>
          <p:nvPr/>
        </p:nvSpPr>
        <p:spPr>
          <a:xfrm>
            <a:off x="411480" y="5292746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100" i="1" dirty="0">
                <a:solidFill>
                  <a:srgbClr val="6B7280"/>
                </a:solidFill>
              </a:rPr>
              <a:t>•  Perfumaria Fem. + Masc. somam 82,9% da receita, mas rodam a ~60% de margem.</a:t>
            </a:r>
          </a:p>
          <a:p>
            <a:r>
              <a:rPr lang="pt-BR" sz="1100" i="1" dirty="0">
                <a:solidFill>
                  <a:srgbClr val="6B7280"/>
                </a:solidFill>
              </a:rPr>
              <a:t>•  Cabelos (70,8%) e Cuidados e Corpo (69,6%) têm a maior margem, porém pouquíssima representatividade nas vendas.</a:t>
            </a:r>
          </a:p>
          <a:p>
            <a:r>
              <a:rPr lang="pt-BR" sz="1100" i="1" dirty="0">
                <a:solidFill>
                  <a:srgbClr val="6B7280"/>
                </a:solidFill>
              </a:rPr>
              <a:t>•  Maquiagem e </a:t>
            </a:r>
            <a:r>
              <a:rPr lang="pt-BR" sz="1100" i="1" dirty="0" err="1">
                <a:solidFill>
                  <a:srgbClr val="6B7280"/>
                </a:solidFill>
              </a:rPr>
              <a:t>Skincare</a:t>
            </a:r>
            <a:r>
              <a:rPr lang="pt-BR" sz="1100" i="1" dirty="0">
                <a:solidFill>
                  <a:srgbClr val="6B7280"/>
                </a:solidFill>
              </a:rPr>
              <a:t> fica no meio do caminho: 9,9% da receita e 65,4% de margem.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Atraso na entrega quase triplica a insatisfação do cliente digital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88592"/>
            <a:ext cx="3566160" cy="4582914"/>
          </a:xfrm>
          <a:prstGeom prst="roundRect">
            <a:avLst>
              <a:gd name="adj" fmla="val 2051"/>
            </a:avLst>
          </a:prstGeom>
          <a:solidFill>
            <a:srgbClr val="F1F5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15,1%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dos pedidos digitais chegaram com </a:t>
            </a:r>
            <a:r>
              <a:rPr lang="en-US" sz="1250" dirty="0" err="1">
                <a:solidFill>
                  <a:srgbClr val="6B7280"/>
                </a:solidFill>
              </a:rPr>
              <a:t>atraso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368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17,4%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9801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de feedback negativo quando há atraso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9C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de feedback negativo quando entrega no prazo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724120"/>
            <a:ext cx="7315200" cy="1634794"/>
          </a:xfrm>
          <a:prstGeom prst="roundRect">
            <a:avLst>
              <a:gd name="adj" fmla="val 1633"/>
            </a:avLst>
          </a:prstGeom>
          <a:solidFill>
            <a:srgbClr val="1E4D3B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/>
          <p:nvPr/>
        </p:nvSpPr>
        <p:spPr>
          <a:xfrm>
            <a:off x="4577178" y="1932000"/>
            <a:ext cx="6583680" cy="311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Retenção de clientes digitais também pede atenção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8618" y="2365607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7418" y="23317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EC"/>
                </a:solidFill>
              </a:rPr>
              <a:t>dos 369 clientes digitais da base fizeram apenas 1 pedido no período — não voltaram a comprar.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EE3DF304-2A8A-2E41-0430-8117ABABA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19" y="3684002"/>
            <a:ext cx="7517499" cy="2517279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9C93D289-2438-A351-5DD5-EEAB1F31C959}"/>
              </a:ext>
            </a:extLst>
          </p:cNvPr>
          <p:cNvSpPr/>
          <p:nvPr/>
        </p:nvSpPr>
        <p:spPr>
          <a:xfrm>
            <a:off x="9606664" y="5833510"/>
            <a:ext cx="2183058" cy="311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ONDE VAMOS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Projeção respeita a sazonalidade: pico de ~R$ 101 mil em dez/2026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7E9B1C1-E658-C9D6-C95D-F9BEABAE7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62038"/>
            <a:ext cx="11521440" cy="3858023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2B9C1B0D-BB3F-D2DC-6045-2FBF4BC1374B}"/>
              </a:ext>
            </a:extLst>
          </p:cNvPr>
          <p:cNvSpPr/>
          <p:nvPr/>
        </p:nvSpPr>
        <p:spPr>
          <a:xfrm>
            <a:off x="9246942" y="4976315"/>
            <a:ext cx="2670738" cy="568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ONDE VAMOS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Site/App </a:t>
            </a: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próprio</a:t>
            </a:r>
            <a:r>
              <a:rPr lang="en-US" sz="26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cresce</a:t>
            </a:r>
            <a:r>
              <a:rPr lang="en-US" sz="26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~2x mais rápido </a:t>
            </a: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26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loja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95DEF29-084D-4C6F-F095-B152BFB21A03}"/>
              </a:ext>
            </a:extLst>
          </p:cNvPr>
          <p:cNvSpPr/>
          <p:nvPr/>
        </p:nvSpPr>
        <p:spPr>
          <a:xfrm>
            <a:off x="9307902" y="5198555"/>
            <a:ext cx="2670738" cy="568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CB17ABD8-99B9-30CF-D8C2-8BEE2FC96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69205"/>
            <a:ext cx="11145328" cy="3732080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E880FC3B-5122-D4D2-3736-7865321E462D}"/>
              </a:ext>
            </a:extLst>
          </p:cNvPr>
          <p:cNvSpPr/>
          <p:nvPr/>
        </p:nvSpPr>
        <p:spPr>
          <a:xfrm>
            <a:off x="9145150" y="5023225"/>
            <a:ext cx="2670738" cy="568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8EB4A734-57E7-6F5D-25A6-41DFCEF9A99E}"/>
              </a:ext>
            </a:extLst>
          </p:cNvPr>
          <p:cNvSpPr/>
          <p:nvPr/>
        </p:nvSpPr>
        <p:spPr>
          <a:xfrm>
            <a:off x="634904" y="134806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Crescimento de ano cheio (2025 vs. 2024) </a:t>
            </a:r>
            <a:r>
              <a:rPr lang="en-US" sz="1250" dirty="0" err="1">
                <a:solidFill>
                  <a:srgbClr val="6B7280"/>
                </a:solidFill>
              </a:rPr>
              <a:t>por</a:t>
            </a:r>
            <a:r>
              <a:rPr lang="en-US" sz="1250" dirty="0">
                <a:solidFill>
                  <a:srgbClr val="6B7280"/>
                </a:solidFill>
              </a:rPr>
              <a:t> canal</a:t>
            </a:r>
            <a:endParaRPr lang="en-US" sz="125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C3D19B87-1E7B-923E-7A42-48D42236AC12}"/>
              </a:ext>
            </a:extLst>
          </p:cNvPr>
          <p:cNvSpPr/>
          <p:nvPr/>
        </p:nvSpPr>
        <p:spPr>
          <a:xfrm>
            <a:off x="701040" y="5746151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100" i="1" dirty="0">
                <a:solidFill>
                  <a:srgbClr val="6B7280"/>
                </a:solidFill>
              </a:rPr>
              <a:t>Site/app está crescendo consistentemente (15% a.a.) e o marketplace/catálogo de revendedoras está estagnado ou em queda, vale entender se isso reflete alocação de investimento desigual (e nesse caso, realocar reforça o que já funciona) ou se é uma mudança genuína de comportamento do consumidor.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PILAR 3 · PARA ONDE VAMOS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crescimento já está nas categorias de maior margem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7421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Crescimento de ano cheio (2025 vs. 2024) </a:t>
            </a:r>
            <a:r>
              <a:rPr lang="en-US" sz="1250" dirty="0" err="1">
                <a:solidFill>
                  <a:srgbClr val="6B7280"/>
                </a:solidFill>
              </a:rPr>
              <a:t>por</a:t>
            </a:r>
            <a:r>
              <a:rPr lang="en-US" sz="1250" dirty="0">
                <a:solidFill>
                  <a:srgbClr val="6B7280"/>
                </a:solidFill>
              </a:rPr>
              <a:t> </a:t>
            </a:r>
            <a:r>
              <a:rPr lang="en-US" sz="1250" dirty="0" err="1">
                <a:solidFill>
                  <a:srgbClr val="6B7280"/>
                </a:solidFill>
              </a:rPr>
              <a:t>categoria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1040" y="5746151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Maquiagem/Skincare, Cabelos e Cuidados e Corpo (as 3 categorias de maior margem, slide 8) crescem entre 17% e 32%, </a:t>
            </a:r>
            <a:r>
              <a:rPr lang="en-US" sz="1100" i="1" dirty="0" err="1">
                <a:solidFill>
                  <a:srgbClr val="6B7280"/>
                </a:solidFill>
              </a:rPr>
              <a:t>enquanto</a:t>
            </a:r>
            <a:r>
              <a:rPr lang="en-US" sz="1100" i="1" dirty="0">
                <a:solidFill>
                  <a:srgbClr val="6B7280"/>
                </a:solidFill>
              </a:rPr>
              <a:t> Perfumaria Masculina encolheu 4,7%.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FD0919E9-A766-B5C3-7E1B-7E17869E5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45930"/>
            <a:ext cx="11430000" cy="3827404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61162AA2-0314-B3BA-2867-D602F2AAEA39}"/>
              </a:ext>
            </a:extLst>
          </p:cNvPr>
          <p:cNvSpPr/>
          <p:nvPr/>
        </p:nvSpPr>
        <p:spPr>
          <a:xfrm>
            <a:off x="9261319" y="5004553"/>
            <a:ext cx="2670738" cy="568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ONDE VAMOS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frentes de ação, priorizadas por impacto e evidência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Executivo de Vendas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  <p:sp>
        <p:nvSpPr>
          <p:cNvPr id="26" name="Rounded Rectangle 25"/>
          <p:cNvSpPr/>
          <p:nvPr/>
        </p:nvSpPr>
        <p:spPr>
          <a:xfrm>
            <a:off x="544067" y="1578788"/>
            <a:ext cx="5349240" cy="1871760"/>
          </a:xfrm>
          <a:prstGeom prst="roundRect">
            <a:avLst>
              <a:gd name="adj" fmla="val 8000"/>
            </a:avLst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96161" y="1901953"/>
            <a:ext cx="443484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dirty="0">
                <a:solidFill>
                  <a:srgbClr val="1E4D3B"/>
                </a:solidFill>
                <a:latin typeface="Georgia"/>
              </a:rPr>
              <a:t>SLA de </a:t>
            </a:r>
            <a:r>
              <a:rPr sz="1250" b="1" dirty="0" err="1">
                <a:solidFill>
                  <a:srgbClr val="1E4D3B"/>
                </a:solidFill>
                <a:latin typeface="Georgia"/>
              </a:rPr>
              <a:t>entrega</a:t>
            </a:r>
            <a:r>
              <a:rPr sz="1250" b="1" dirty="0">
                <a:solidFill>
                  <a:srgbClr val="1E4D3B"/>
                </a:solidFill>
                <a:latin typeface="Georgia"/>
              </a:rPr>
              <a:t> </a:t>
            </a:r>
            <a:r>
              <a:rPr sz="1250" b="1" dirty="0" err="1">
                <a:solidFill>
                  <a:srgbClr val="1E4D3B"/>
                </a:solidFill>
                <a:latin typeface="Georgia"/>
              </a:rPr>
              <a:t>como</a:t>
            </a:r>
            <a:r>
              <a:rPr sz="1250" b="1" dirty="0">
                <a:solidFill>
                  <a:srgbClr val="1E4D3B"/>
                </a:solidFill>
                <a:latin typeface="Georgia"/>
              </a:rPr>
              <a:t> </a:t>
            </a:r>
            <a:r>
              <a:rPr sz="1250" b="1" dirty="0" err="1">
                <a:solidFill>
                  <a:srgbClr val="1E4D3B"/>
                </a:solidFill>
                <a:latin typeface="Georgia"/>
              </a:rPr>
              <a:t>prioridade</a:t>
            </a:r>
            <a:endParaRPr sz="1250" b="1" dirty="0">
              <a:solidFill>
                <a:srgbClr val="1E4D3B"/>
              </a:solidFill>
              <a:latin typeface="Georgi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8953" y="2429180"/>
            <a:ext cx="49377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 err="1">
                <a:solidFill>
                  <a:srgbClr val="6B7280"/>
                </a:solidFill>
              </a:rPr>
              <a:t>Atacar</a:t>
            </a:r>
            <a:r>
              <a:rPr sz="1050" dirty="0">
                <a:solidFill>
                  <a:srgbClr val="6B7280"/>
                </a:solidFill>
              </a:rPr>
              <a:t> a causa-</a:t>
            </a:r>
            <a:r>
              <a:rPr sz="1050" dirty="0" err="1">
                <a:solidFill>
                  <a:srgbClr val="6B7280"/>
                </a:solidFill>
              </a:rPr>
              <a:t>raiz</a:t>
            </a:r>
            <a:r>
              <a:rPr sz="1050" dirty="0">
                <a:solidFill>
                  <a:srgbClr val="6B7280"/>
                </a:solidFill>
              </a:rPr>
              <a:t> dos 15,1% de </a:t>
            </a:r>
            <a:r>
              <a:rPr sz="1050" dirty="0" err="1">
                <a:solidFill>
                  <a:srgbClr val="6B7280"/>
                </a:solidFill>
              </a:rPr>
              <a:t>atrasos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digitais</a:t>
            </a:r>
            <a:r>
              <a:rPr lang="pt-BR" sz="1050" dirty="0">
                <a:solidFill>
                  <a:srgbClr val="6B7280"/>
                </a:solidFill>
              </a:rPr>
              <a:t>, impacto </a:t>
            </a:r>
            <a:r>
              <a:rPr sz="1050" dirty="0" err="1">
                <a:solidFill>
                  <a:srgbClr val="6B7280"/>
                </a:solidFill>
              </a:rPr>
              <a:t>mais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diret</a:t>
            </a:r>
            <a:r>
              <a:rPr lang="pt-BR" sz="1050" dirty="0">
                <a:solidFill>
                  <a:srgbClr val="6B7280"/>
                </a:solidFill>
              </a:rPr>
              <a:t>o</a:t>
            </a:r>
            <a:r>
              <a:rPr sz="1050" dirty="0">
                <a:solidFill>
                  <a:srgbClr val="6B7280"/>
                </a:solidFill>
              </a:rPr>
              <a:t> de </a:t>
            </a:r>
            <a:r>
              <a:rPr sz="1050" dirty="0" err="1">
                <a:solidFill>
                  <a:srgbClr val="6B7280"/>
                </a:solidFill>
              </a:rPr>
              <a:t>satisfação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identificada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nos</a:t>
            </a:r>
            <a:r>
              <a:rPr sz="1050" dirty="0">
                <a:solidFill>
                  <a:srgbClr val="6B7280"/>
                </a:solidFill>
              </a:rPr>
              <a:t> dados (17,4% vs. 6,1% de feedback </a:t>
            </a:r>
            <a:r>
              <a:rPr sz="1050" dirty="0" err="1">
                <a:solidFill>
                  <a:srgbClr val="6B7280"/>
                </a:solidFill>
              </a:rPr>
              <a:t>negativo</a:t>
            </a:r>
            <a:r>
              <a:rPr sz="1050" dirty="0">
                <a:solidFill>
                  <a:srgbClr val="6B7280"/>
                </a:solidFill>
              </a:rPr>
              <a:t>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7627" y="1575892"/>
            <a:ext cx="5349240" cy="1853107"/>
          </a:xfrm>
          <a:prstGeom prst="roundRect">
            <a:avLst>
              <a:gd name="adj" fmla="val 8000"/>
            </a:avLst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73368" y="1801368"/>
            <a:ext cx="384048" cy="384048"/>
          </a:xfrm>
          <a:prstGeom prst="ellipse">
            <a:avLst/>
          </a:prstGeom>
          <a:solidFill>
            <a:srgbClr val="3E8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9721" y="1840955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1E4D3B"/>
                </a:solidFill>
                <a:latin typeface="Georgia"/>
              </a:rPr>
              <a:t>Investir no Ecomm mono (site próprio)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3" y="2340865"/>
            <a:ext cx="4937759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>
                <a:solidFill>
                  <a:srgbClr val="6B7280"/>
                </a:solidFill>
              </a:rPr>
              <a:t>O </a:t>
            </a:r>
            <a:r>
              <a:rPr sz="1050" dirty="0" err="1">
                <a:solidFill>
                  <a:srgbClr val="6B7280"/>
                </a:solidFill>
              </a:rPr>
              <a:t>crescimento</a:t>
            </a:r>
            <a:r>
              <a:rPr sz="1050" dirty="0">
                <a:solidFill>
                  <a:srgbClr val="6B7280"/>
                </a:solidFill>
              </a:rPr>
              <a:t> “digital” é </a:t>
            </a:r>
            <a:r>
              <a:rPr sz="1050" dirty="0" err="1">
                <a:solidFill>
                  <a:srgbClr val="6B7280"/>
                </a:solidFill>
              </a:rPr>
              <a:t>quase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todo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puxado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pelo</a:t>
            </a:r>
            <a:r>
              <a:rPr sz="1050" dirty="0">
                <a:solidFill>
                  <a:srgbClr val="6B7280"/>
                </a:solidFill>
              </a:rPr>
              <a:t> site </a:t>
            </a:r>
            <a:r>
              <a:rPr sz="1050" dirty="0" err="1">
                <a:solidFill>
                  <a:srgbClr val="6B7280"/>
                </a:solidFill>
              </a:rPr>
              <a:t>próprio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lang="pt-BR" sz="1050" dirty="0">
                <a:solidFill>
                  <a:srgbClr val="6B7280"/>
                </a:solidFill>
              </a:rPr>
              <a:t>(15</a:t>
            </a:r>
            <a:r>
              <a:rPr sz="1050" dirty="0">
                <a:solidFill>
                  <a:srgbClr val="6B7280"/>
                </a:solidFill>
              </a:rPr>
              <a:t>% </a:t>
            </a:r>
            <a:r>
              <a:rPr sz="1050" dirty="0" err="1">
                <a:solidFill>
                  <a:srgbClr val="6B7280"/>
                </a:solidFill>
              </a:rPr>
              <a:t>a.a.</a:t>
            </a:r>
            <a:r>
              <a:rPr sz="1050" dirty="0">
                <a:solidFill>
                  <a:srgbClr val="6B7280"/>
                </a:solidFill>
              </a:rPr>
              <a:t>)</a:t>
            </a:r>
            <a:r>
              <a:rPr lang="pt-BR" sz="1050" dirty="0">
                <a:solidFill>
                  <a:srgbClr val="6B7280"/>
                </a:solidFill>
              </a:rPr>
              <a:t>, </a:t>
            </a:r>
            <a:r>
              <a:rPr sz="1050" dirty="0">
                <a:solidFill>
                  <a:srgbClr val="6B7280"/>
                </a:solidFill>
              </a:rPr>
              <a:t>o marketplace </a:t>
            </a:r>
            <a:r>
              <a:rPr sz="1050" dirty="0" err="1">
                <a:solidFill>
                  <a:srgbClr val="6B7280"/>
                </a:solidFill>
              </a:rPr>
              <a:t>está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estagnado</a:t>
            </a:r>
            <a:r>
              <a:rPr sz="1050" dirty="0">
                <a:solidFill>
                  <a:srgbClr val="6B7280"/>
                </a:solidFill>
              </a:rPr>
              <a:t> (+0,9%). </a:t>
            </a:r>
            <a:r>
              <a:rPr sz="1050" dirty="0" err="1">
                <a:solidFill>
                  <a:srgbClr val="6B7280"/>
                </a:solidFill>
              </a:rPr>
              <a:t>Investigar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também</a:t>
            </a:r>
            <a:r>
              <a:rPr sz="1050" dirty="0">
                <a:solidFill>
                  <a:srgbClr val="6B7280"/>
                </a:solidFill>
              </a:rPr>
              <a:t> a </a:t>
            </a:r>
            <a:r>
              <a:rPr sz="1050" dirty="0" err="1">
                <a:solidFill>
                  <a:srgbClr val="6B7280"/>
                </a:solidFill>
              </a:rPr>
              <a:t>queda</a:t>
            </a:r>
            <a:r>
              <a:rPr sz="1050" dirty="0">
                <a:solidFill>
                  <a:srgbClr val="6B7280"/>
                </a:solidFill>
              </a:rPr>
              <a:t> do VD (-2,9%), </a:t>
            </a:r>
            <a:r>
              <a:rPr sz="1050" dirty="0" err="1">
                <a:solidFill>
                  <a:srgbClr val="6B7280"/>
                </a:solidFill>
              </a:rPr>
              <a:t>único</a:t>
            </a:r>
            <a:r>
              <a:rPr sz="1050" dirty="0">
                <a:solidFill>
                  <a:srgbClr val="6B7280"/>
                </a:solidFill>
              </a:rPr>
              <a:t> canal </a:t>
            </a:r>
            <a:r>
              <a:rPr sz="1050" dirty="0" err="1">
                <a:solidFill>
                  <a:srgbClr val="6B7280"/>
                </a:solidFill>
              </a:rPr>
              <a:t>em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queda</a:t>
            </a:r>
            <a:r>
              <a:rPr sz="1050" dirty="0">
                <a:solidFill>
                  <a:srgbClr val="6B7280"/>
                </a:solidFill>
              </a:rPr>
              <a:t> real.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059936"/>
            <a:ext cx="5349240" cy="1950797"/>
          </a:xfrm>
          <a:prstGeom prst="roundRect">
            <a:avLst>
              <a:gd name="adj" fmla="val 8000"/>
            </a:avLst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96161" y="4327399"/>
            <a:ext cx="443484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1250" b="1" dirty="0">
                <a:solidFill>
                  <a:srgbClr val="1E4D3B"/>
                </a:solidFill>
                <a:latin typeface="Georgia"/>
              </a:rPr>
              <a:t>SC: estagnação real, sem sinal de virada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242" y="5006341"/>
            <a:ext cx="49377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1050" dirty="0">
                <a:solidFill>
                  <a:srgbClr val="6B7280"/>
                </a:solidFill>
              </a:rPr>
              <a:t>SC roda em ~65-68% nos 3 anos, sem tendência de melhora. Investigar causa raiz local (estoque, execução, rede de parceiros) antes de ajustar meta.</a:t>
            </a:r>
            <a:endParaRPr sz="1050" dirty="0">
              <a:solidFill>
                <a:srgbClr val="6B728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172200" y="4087369"/>
            <a:ext cx="5349240" cy="1923364"/>
          </a:xfrm>
          <a:prstGeom prst="roundRect">
            <a:avLst>
              <a:gd name="adj" fmla="val 8000"/>
            </a:avLst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373368" y="4288536"/>
            <a:ext cx="384048" cy="384048"/>
          </a:xfrm>
          <a:prstGeom prst="ellipse">
            <a:avLst/>
          </a:prstGeom>
          <a:solidFill>
            <a:srgbClr val="3E8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00" b="1" dirty="0">
                <a:solidFill>
                  <a:srgbClr val="FFFFFF"/>
                </a:solidFill>
              </a:rPr>
              <a:t>4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919721" y="4355218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1E4D3B"/>
                </a:solidFill>
                <a:latin typeface="Georgia"/>
              </a:rPr>
              <a:t>Programa de recompra digital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3368" y="5006341"/>
            <a:ext cx="49377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>
                <a:solidFill>
                  <a:srgbClr val="6B7280"/>
                </a:solidFill>
              </a:rPr>
              <a:t>Jornada </a:t>
            </a:r>
            <a:r>
              <a:rPr sz="1050" dirty="0" err="1">
                <a:solidFill>
                  <a:srgbClr val="6B7280"/>
                </a:solidFill>
              </a:rPr>
              <a:t>pós-compra</a:t>
            </a:r>
            <a:r>
              <a:rPr sz="1050" dirty="0">
                <a:solidFill>
                  <a:srgbClr val="6B7280"/>
                </a:solidFill>
              </a:rPr>
              <a:t> para </a:t>
            </a:r>
            <a:r>
              <a:rPr sz="1050" dirty="0" err="1">
                <a:solidFill>
                  <a:srgbClr val="6B7280"/>
                </a:solidFill>
              </a:rPr>
              <a:t>os</a:t>
            </a:r>
            <a:r>
              <a:rPr sz="1050" dirty="0">
                <a:solidFill>
                  <a:srgbClr val="6B7280"/>
                </a:solidFill>
              </a:rPr>
              <a:t> 19,2% de </a:t>
            </a:r>
            <a:r>
              <a:rPr sz="1050" dirty="0" err="1">
                <a:solidFill>
                  <a:srgbClr val="6B7280"/>
                </a:solidFill>
              </a:rPr>
              <a:t>clientes</a:t>
            </a:r>
            <a:r>
              <a:rPr sz="1050" dirty="0">
                <a:solidFill>
                  <a:srgbClr val="6B7280"/>
                </a:solidFill>
              </a:rPr>
              <a:t> de </a:t>
            </a:r>
            <a:r>
              <a:rPr sz="1050" dirty="0" err="1">
                <a:solidFill>
                  <a:srgbClr val="6B7280"/>
                </a:solidFill>
              </a:rPr>
              <a:t>pedido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único</a:t>
            </a:r>
            <a:r>
              <a:rPr lang="pt-BR" sz="1050" dirty="0">
                <a:solidFill>
                  <a:srgbClr val="6B7280"/>
                </a:solidFill>
              </a:rPr>
              <a:t>, </a:t>
            </a:r>
            <a:r>
              <a:rPr sz="1050" dirty="0" err="1">
                <a:solidFill>
                  <a:srgbClr val="6B7280"/>
                </a:solidFill>
              </a:rPr>
              <a:t>hoje</a:t>
            </a:r>
            <a:r>
              <a:rPr sz="1050" dirty="0">
                <a:solidFill>
                  <a:srgbClr val="6B7280"/>
                </a:solidFill>
              </a:rPr>
              <a:t> o ticket de </a:t>
            </a:r>
            <a:r>
              <a:rPr sz="1050" dirty="0" err="1">
                <a:solidFill>
                  <a:srgbClr val="6B7280"/>
                </a:solidFill>
              </a:rPr>
              <a:t>recorrente</a:t>
            </a:r>
            <a:r>
              <a:rPr sz="1050" dirty="0">
                <a:solidFill>
                  <a:srgbClr val="6B7280"/>
                </a:solidFill>
              </a:rPr>
              <a:t> e </a:t>
            </a:r>
            <a:r>
              <a:rPr sz="1050" dirty="0" err="1">
                <a:solidFill>
                  <a:srgbClr val="6B7280"/>
                </a:solidFill>
              </a:rPr>
              <a:t>primeira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compra</a:t>
            </a:r>
            <a:r>
              <a:rPr sz="1050" dirty="0">
                <a:solidFill>
                  <a:srgbClr val="6B7280"/>
                </a:solidFill>
              </a:rPr>
              <a:t> é </a:t>
            </a:r>
            <a:r>
              <a:rPr sz="1050" dirty="0" err="1">
                <a:solidFill>
                  <a:srgbClr val="6B7280"/>
                </a:solidFill>
              </a:rPr>
              <a:t>quase</a:t>
            </a:r>
            <a:r>
              <a:rPr sz="1050" dirty="0">
                <a:solidFill>
                  <a:srgbClr val="6B7280"/>
                </a:solidFill>
              </a:rPr>
              <a:t> </a:t>
            </a:r>
            <a:r>
              <a:rPr sz="1050" dirty="0" err="1">
                <a:solidFill>
                  <a:srgbClr val="6B7280"/>
                </a:solidFill>
              </a:rPr>
              <a:t>igual</a:t>
            </a:r>
            <a:r>
              <a:rPr sz="1050" dirty="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7" name="Oval 46">
            <a:extLst>
              <a:ext uri="{FF2B5EF4-FFF2-40B4-BE49-F238E27FC236}">
                <a16:creationId xmlns:a16="http://schemas.microsoft.com/office/drawing/2014/main" id="{A5037E9E-30D0-2857-5216-414913F1C0A9}"/>
              </a:ext>
            </a:extLst>
          </p:cNvPr>
          <p:cNvSpPr/>
          <p:nvPr/>
        </p:nvSpPr>
        <p:spPr>
          <a:xfrm>
            <a:off x="730377" y="4285475"/>
            <a:ext cx="384048" cy="384048"/>
          </a:xfrm>
          <a:prstGeom prst="ellipse">
            <a:avLst/>
          </a:prstGeom>
          <a:solidFill>
            <a:srgbClr val="3E8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00" b="1" dirty="0">
                <a:solidFill>
                  <a:srgbClr val="FFFFFF"/>
                </a:solidFill>
              </a:rPr>
              <a:t>3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9" name="Oval 46">
            <a:extLst>
              <a:ext uri="{FF2B5EF4-FFF2-40B4-BE49-F238E27FC236}">
                <a16:creationId xmlns:a16="http://schemas.microsoft.com/office/drawing/2014/main" id="{A51CF1FA-B27A-0353-7968-288A5AE36A89}"/>
              </a:ext>
            </a:extLst>
          </p:cNvPr>
          <p:cNvSpPr/>
          <p:nvPr/>
        </p:nvSpPr>
        <p:spPr>
          <a:xfrm>
            <a:off x="728090" y="1806968"/>
            <a:ext cx="384048" cy="384048"/>
          </a:xfrm>
          <a:prstGeom prst="ellipse">
            <a:avLst/>
          </a:prstGeom>
          <a:solidFill>
            <a:srgbClr val="3E8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00" b="1" dirty="0">
                <a:solidFill>
                  <a:srgbClr val="FFFFFF"/>
                </a:solidFill>
              </a:rPr>
              <a:t>1</a:t>
            </a:r>
            <a:endParaRPr sz="13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4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F6B54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882</Words>
  <Application>Microsoft Office PowerPoint</Application>
  <PresentationFormat>Widescreen</PresentationFormat>
  <Paragraphs>115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Lucas Cavalheiro</cp:lastModifiedBy>
  <cp:revision>8</cp:revision>
  <dcterms:created xsi:type="dcterms:W3CDTF">2026-08-10T21:28:08Z</dcterms:created>
  <dcterms:modified xsi:type="dcterms:W3CDTF">2026-08-11T02:47:02Z</dcterms:modified>
</cp:coreProperties>
</file>